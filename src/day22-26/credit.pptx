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3" r:id="rId4"/>
    <p:sldId id="257" r:id="rId5"/>
    <p:sldId id="261" r:id="rId6"/>
    <p:sldId id="264" r:id="rId7"/>
    <p:sldId id="267" r:id="rId8"/>
    <p:sldId id="262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AF471-601B-4CC2-A64E-4EA05E456D16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B9BF0-8FF8-4582-BD18-75AD20D40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03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5669839B-A827-44CD-8C4E-2267E88799EA}" type="slidenum">
              <a:rPr lang="en-IN" sz="1400" b="0" strike="noStrike" spc="-1" smtClean="0">
                <a:latin typeface="Times New Roman"/>
              </a:rPr>
              <a:t>6</a:t>
            </a:fld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517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1801" y="1799591"/>
            <a:ext cx="10273047" cy="82731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Lending </a:t>
            </a:r>
            <a:r>
              <a:rPr lang="en-I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System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4680" y="2738144"/>
            <a:ext cx="2087290" cy="378095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Finance Sector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57141" y="879709"/>
            <a:ext cx="5982366" cy="687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1 - Presentation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69838" y="4676727"/>
            <a:ext cx="26212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Dilan 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Karthik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Prajna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hrisha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Sadeem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74749" y="4237111"/>
            <a:ext cx="1798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2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idx="4294967295"/>
          </p:nvPr>
        </p:nvSpPr>
        <p:spPr>
          <a:xfrm>
            <a:off x="1762680" y="185400"/>
            <a:ext cx="8719200" cy="95688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5400" spc="-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idx="4294967295"/>
          </p:nvPr>
        </p:nvSpPr>
        <p:spPr>
          <a:xfrm>
            <a:off x="2111023" y="1253452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479"/>
              </a:spcBef>
              <a:buNone/>
            </a:pP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Literature 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review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References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2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7869" y="371562"/>
            <a:ext cx="3912378" cy="7953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941" y="1532708"/>
            <a:ext cx="9594088" cy="428461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Lending Optimization System is designed to improve the process of loan approval in financial institutions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banks evaluate whether a customer is eligible to receive a loan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methods mainly use past financial data such as income and credit history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traditional methods may not work well with large and complex datasets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uses Artificial Intelligence (AI) and Machine Learning (ML) techniques to improve the accuracy of credit risk prediction and support better lending decisions.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9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499" y="458647"/>
            <a:ext cx="5906641" cy="91730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4484" y="2690949"/>
            <a:ext cx="9724704" cy="14369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systems rely mainly on limited financial history, making it difficult to accurately evaluate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credit worthiness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individuals who lack sufficient credit records.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9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320" y="493482"/>
            <a:ext cx="3360945" cy="786679"/>
          </a:xfrm>
        </p:spPr>
        <p:txBody>
          <a:bodyPr>
            <a:noAutofit/>
          </a:bodyPr>
          <a:lstStyle/>
          <a:p>
            <a:pPr algn="ctr"/>
            <a:r>
              <a:rPr lang="en-US" sz="5400" b="1" spc="-1" dirty="0">
                <a:solidFill>
                  <a:srgbClr val="00B0F0"/>
                </a:solidFill>
                <a:latin typeface="Times New Roman"/>
                <a:ea typeface="Noto Sans CJK SC"/>
              </a:rPr>
              <a:t>Objectives</a:t>
            </a:r>
            <a:endParaRPr lang="en-IN" sz="5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5406" y="213360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borrower credit risk using machine learning.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loan decision accuracy.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borrower financial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optimized loan recommendations.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in lending decisions.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7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 idx="4294967295"/>
          </p:nvPr>
        </p:nvSpPr>
        <p:spPr>
          <a:xfrm>
            <a:off x="3706266" y="139337"/>
            <a:ext cx="5455150" cy="6188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pc="-1" dirty="0">
                <a:solidFill>
                  <a:srgbClr val="00B0F0"/>
                </a:solidFill>
                <a:latin typeface="Times New Roman" panose="02020603050405020304" pitchFamily="18" charset="0"/>
                <a:ea typeface="Noto Sans CJK SC"/>
                <a:cs typeface="Times New Roman" panose="02020603050405020304" pitchFamily="18" charset="0"/>
              </a:rPr>
              <a:t>Literature Review</a:t>
            </a:r>
            <a:endParaRPr lang="en-IN" sz="5400" spc="-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>
          <a:xfrm>
            <a:off x="8077080" y="6392520"/>
            <a:ext cx="1904400" cy="456480"/>
          </a:xfrm>
          <a:prstGeom prst="rect">
            <a:avLst/>
          </a:prstGeom>
        </p:spPr>
        <p:txBody>
          <a:bodyPr/>
          <a:lstStyle/>
          <a:p>
            <a:fld id="{8D8FC85B-A9C2-49E1-B82A-D438402C3EBB}" type="slidenum"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26803"/>
              </p:ext>
            </p:extLst>
          </p:nvPr>
        </p:nvGraphicFramePr>
        <p:xfrm>
          <a:off x="1574920" y="1087401"/>
          <a:ext cx="9717843" cy="5611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083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431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Alternative Data in Finance and Business: Emerging Applications and Theory Analysis[1]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Yunchuan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Sun et al. [2024]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Review of alternative data sources (behavioral, transaction, sensor data) applied to credit evaluation, risk prediction, and financial decision-making.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7839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 Dimension Reduction Assisted Credit Scoring Method for Big Data with Categorical Features[2]</a:t>
                      </a:r>
                    </a:p>
                    <a:p>
                      <a:pPr algn="just"/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Tatjana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Miljkovic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 &amp; Pei Wang [2025]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Dimension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Reduction Approach for Classification systems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method using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Distance Covariance-Sufficient Dimension Reduction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for sufficient dimension reduction combined with logistic regression.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0880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A Novel Augmentation Strategy for Credit Scoring Modeling[3]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b="0" dirty="0" smtClean="0">
                          <a:latin typeface="Times New Roman" pitchFamily="18" charset="0"/>
                          <a:cs typeface="Times New Roman" pitchFamily="18" charset="0"/>
                        </a:rPr>
                        <a:t>Valerio La Gatta et al. [2025]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Data augmentation using Explainable AI (CASTLE) to generate synthetic instances along decision boundaries for imbalanced datasets..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0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09" y="1785257"/>
            <a:ext cx="10731008" cy="4625788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will classify borrowers into low, medium, and high risk using machine learning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Process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credit evaluation reduces manual work and speeds up loan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Individuals without traditional credit history can still be evaluated using alternative financial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Recommendations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suggests suitable loan amounts and repayment plans based on the borrower’s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profile.</a:t>
            </a: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94991" y="451576"/>
            <a:ext cx="6187245" cy="6188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pc="-1" dirty="0" smtClean="0">
                <a:solidFill>
                  <a:srgbClr val="00B0F0"/>
                </a:solidFill>
                <a:latin typeface="Times New Roman"/>
                <a:ea typeface="Noto Sans CJK SC"/>
              </a:rPr>
              <a:t>Expected Outcome</a:t>
            </a:r>
            <a:endParaRPr lang="en-IN" sz="5400" spc="-1" dirty="0">
              <a:solidFill>
                <a:srgbClr val="00B0F0"/>
              </a:solidFill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2479" y="240932"/>
            <a:ext cx="4149071" cy="525422"/>
          </a:xfrm>
        </p:spPr>
        <p:txBody>
          <a:bodyPr>
            <a:noAutofit/>
          </a:bodyPr>
          <a:lstStyle/>
          <a:p>
            <a:pPr algn="just"/>
            <a:r>
              <a:rPr lang="en-US" sz="5400" b="1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9315" y="1576252"/>
            <a:ext cx="8915400" cy="3777622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 System improves traditional credit evaluation using AI and machine learning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financial institutions make better and faster lending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increases access to credit for underserved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individuals.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reduces errors and improves efficiency in loan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supports fair, transparent, and data-driven lending practices in modern financial services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0871" y="275767"/>
            <a:ext cx="3712081" cy="94343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9659" y="1461246"/>
            <a:ext cx="10149635" cy="4697506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Y., et al., “Alternative Data in Finance and Business: Emerging Applications and Theory Analysis.”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2024.</a:t>
            </a:r>
          </a:p>
          <a:p>
            <a:pPr algn="just"/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Miljkovic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T., &amp; Wang, P., “A Dimension Reduction Assisted Credit Scoring Method for Big Data with Categorical Features.”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Gatta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V., et al., “A Novel Augmentation Strategy for Credit Scoring Modeling.”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2025.</a:t>
            </a:r>
          </a:p>
          <a:p>
            <a:pPr algn="just"/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Vakrani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 S., et al., “Evaluating AI-Driven Credit Scoring Models versus Traditional Statistical Techniques.”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2026.</a:t>
            </a:r>
          </a:p>
          <a:p>
            <a:pPr algn="just"/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Ayari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H., et al., “Machine Learning Powered Financial Credit Scoring: A Systematic Literature Review.” 2026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1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0216" y="4055644"/>
            <a:ext cx="4614698" cy="128089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You.!!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9" y="74036"/>
            <a:ext cx="2044320" cy="13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7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579</Words>
  <Application>Microsoft Office PowerPoint</Application>
  <PresentationFormat>Widescreen</PresentationFormat>
  <Paragraphs>65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Century Gothic</vt:lpstr>
      <vt:lpstr>Helvetica;Arial</vt:lpstr>
      <vt:lpstr>Noto Sans CJK SC</vt:lpstr>
      <vt:lpstr>Times New Roman</vt:lpstr>
      <vt:lpstr>Wingdings 3</vt:lpstr>
      <vt:lpstr>Wisp</vt:lpstr>
      <vt:lpstr>Smart Lending Optimization System</vt:lpstr>
      <vt:lpstr>Contents</vt:lpstr>
      <vt:lpstr>Introduction</vt:lpstr>
      <vt:lpstr>Problem Statement</vt:lpstr>
      <vt:lpstr>Objectives</vt:lpstr>
      <vt:lpstr>Literature Review</vt:lpstr>
      <vt:lpstr>Expected Outcome</vt:lpstr>
      <vt:lpstr>Conclusion</vt:lpstr>
      <vt:lpstr>References</vt:lpstr>
      <vt:lpstr>Thank You.!!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ASUS</cp:lastModifiedBy>
  <cp:revision>19</cp:revision>
  <dcterms:created xsi:type="dcterms:W3CDTF">2026-03-09T09:59:45Z</dcterms:created>
  <dcterms:modified xsi:type="dcterms:W3CDTF">2026-03-11T05:40:49Z</dcterms:modified>
</cp:coreProperties>
</file>